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CHAMPION </a:t>
            </a:r>
            <a:r>
              <a:rPr sz="6000" b="0">
                <a:solidFill>
                  <a:srgbClr val="00A8E1"/>
                </a:solidFill>
              </a:rPr>
              <a:t>MENTALITY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Our Word of the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114800"/>
            <a:ext cx="6675120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45720" cy="109728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06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AAAAAA"/>
                </a:solidFill>
              </a:defRPr>
            </a:pPr>
            <a:r>
              <a:t>"Today isn't about sales tactics. It's about the mindset that separates champions from everyone else."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A8E1"/>
                </a:solidFill>
              </a:defRPr>
            </a:pPr>
            <a:r>
              <a:t>INGRID CARLOS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What Is a </a:t>
            </a:r>
            <a:r>
              <a:rPr sz="3600">
                <a:solidFill>
                  <a:srgbClr val="00A8E1"/>
                </a:solidFill>
              </a:rPr>
              <a:t>Champion Mentality?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High performance mindset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Growth-focused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Service-driven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39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Ownership of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5486400" cy="73152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We move from transactional → intentional &amp; professional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5029200"/>
            <a:ext cx="548640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3E5C"/>
                </a:solidFill>
              </a:defRPr>
            </a:pPr>
            <a:r>
              <a:t>"Champions don't just try to sell houses. They solve problems and build trust."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Pillar #1: </a:t>
            </a:r>
            <a:r>
              <a:rPr sz="3600">
                <a:solidFill>
                  <a:srgbClr val="00A8E1"/>
                </a:solidFill>
              </a:rPr>
              <a:t>Unwavering Self-Belief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E5C"/>
                </a:solidFill>
              </a:defRPr>
            </a:pPr>
            <a:r>
              <a:t>CHAMPIONS BELIEVE IN: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A </a:t>
            </a:r>
            <a:r>
              <a:rPr sz="2000">
                <a:solidFill>
                  <a:srgbClr val="333333"/>
                </a:solidFill>
              </a:rPr>
              <a:t>– Themselves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B </a:t>
            </a:r>
            <a:r>
              <a:rPr sz="2000">
                <a:solidFill>
                  <a:srgbClr val="333333"/>
                </a:solidFill>
              </a:rPr>
              <a:t>– Their product (real estate)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C </a:t>
            </a:r>
            <a:r>
              <a:rPr sz="2000">
                <a:solidFill>
                  <a:srgbClr val="333333"/>
                </a:solidFill>
              </a:rPr>
              <a:t>– Their company &amp;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029200" cy="16459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MINDSET SHIFT: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Failures =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Challenges =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5029200"/>
            <a:ext cx="1097280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3E5C"/>
                </a:solidFill>
              </a:defRPr>
            </a:pPr>
            <a:r>
              <a:t>"If you don't believe in yourself, your clients won't either."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Pillar #2: </a:t>
            </a:r>
            <a:r>
              <a:rPr sz="3600">
                <a:solidFill>
                  <a:srgbClr val="00A8E1"/>
                </a:solidFill>
              </a:rPr>
              <a:t>Extreme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E5C"/>
                </a:solidFill>
              </a:defRPr>
            </a:pPr>
            <a:r>
              <a:t>CHAMPIONS: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Take 100% responsibility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Don't blame the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Don't blame clients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Don't blame circumstances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5029200" cy="201168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THEY ASK: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8E1"/>
                </a:solidFill>
              </a:defRPr>
            </a:pPr>
            <a:r>
              <a:t>"What can I control today?"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" y="5029200"/>
            <a:ext cx="1097280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3E5C"/>
                </a:solidFill>
              </a:defRPr>
            </a:pPr>
            <a:r>
              <a:t>"The market doesn't determine our success. Our habits do."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Pillar #3: </a:t>
            </a:r>
            <a:r>
              <a:rPr sz="3600">
                <a:solidFill>
                  <a:srgbClr val="00A8E1"/>
                </a:solidFill>
              </a:rPr>
              <a:t>Service Over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E5C"/>
                </a:solidFill>
              </a:defRPr>
            </a:pPr>
            <a:r>
              <a:t>CHAMPION FOCUS: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Solve problems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Be a trusted advisor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Create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Build relationships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502920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502920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88888"/>
                </a:solidFill>
              </a:defRPr>
            </a:pPr>
            <a:r>
              <a:t>NOT: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48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"Make the sale"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5029200" cy="109728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926080"/>
            <a:ext cx="5029200" cy="54864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BUT: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29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"Serve the client"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" y="5029200"/>
            <a:ext cx="1097280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3E5C"/>
                </a:solidFill>
              </a:defRPr>
            </a:pPr>
            <a:r>
              <a:t>"When we focus on service, sales become the byproduct."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Pillar #4: </a:t>
            </a:r>
            <a:r>
              <a:rPr sz="3600">
                <a:solidFill>
                  <a:srgbClr val="00A8E1"/>
                </a:solidFill>
              </a:rPr>
              <a:t>Mental Toughness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CHAMPIONS SEE REJECTION AS: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Data, not drama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Practice, not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Fuel, not fear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solidFill>
            <a:srgbClr val="00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MANTRA: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Every "no" makes me better.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5029200"/>
            <a:ext cx="10972800" cy="731520"/>
          </a:xfrm>
          <a:prstGeom prst="rect">
            <a:avLst/>
          </a:prstGeom>
          <a:solidFill>
            <a:srgbClr val="2A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"Rejection isn't personal. It's professional training."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A8E1"/>
                </a:solidFill>
              </a:defRPr>
            </a:pPr>
            <a:r>
              <a:t>INGRID CARLOS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Pillar #5: </a:t>
            </a:r>
            <a:r>
              <a:rPr sz="3600">
                <a:solidFill>
                  <a:srgbClr val="00A8E1"/>
                </a:solidFill>
              </a:rPr>
              <a:t>Daily Discipline &amp;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E5C"/>
                </a:solidFill>
              </a:defRPr>
            </a:pPr>
            <a:r>
              <a:t>CHAMPIONS TREAT EACH DAY LIKE PRACTICE: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Role-playing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Improving 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Staying sharp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5029200" cy="9144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GOAL: Get 1% better every 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5029200"/>
            <a:ext cx="1097280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3E5C"/>
                </a:solidFill>
              </a:defRPr>
            </a:pPr>
            <a:r>
              <a:t>"Champions don't wait for motivation. They build habits."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How Champions </a:t>
            </a:r>
            <a:r>
              <a:rPr sz="3600">
                <a:solidFill>
                  <a:srgbClr val="00A8E1"/>
                </a:solidFill>
              </a:rPr>
              <a:t>Win Daily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E1"/>
                </a:solidFill>
              </a:defRPr>
            </a:pPr>
            <a:r>
              <a:t>CONTROLLABLE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57600" cy="27432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060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Follow-ups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Appointments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033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88888"/>
                </a:solidFill>
              </a:defRPr>
            </a:pPr>
            <a:r>
              <a:t>NOT CONTROLLABLE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3657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194560"/>
            <a:ext cx="109728" cy="10972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88888"/>
                </a:solidFill>
              </a:defRPr>
            </a:pPr>
            <a:r>
              <a:t>Interest rates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697480"/>
            <a:ext cx="109728" cy="10972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88888"/>
                </a:solidFill>
              </a:defRPr>
            </a:pPr>
            <a:r>
              <a:t>Economy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200400"/>
            <a:ext cx="109728" cy="10972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88888"/>
                </a:solidFill>
              </a:defRPr>
            </a:pPr>
            <a:r>
              <a:t>Client decisions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" y="5029200"/>
            <a:ext cx="1097280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3E5C"/>
                </a:solidFill>
              </a:defRPr>
            </a:pPr>
            <a:r>
              <a:t>"We don't control outcomes. We control effort."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00A8E1"/>
                </a:solidFill>
              </a:rPr>
              <a:t>Champion </a:t>
            </a:r>
            <a:r>
              <a:rPr sz="3600">
                <a:solidFill>
                  <a:srgbClr val="1A3E5C"/>
                </a:solidFill>
              </a:rPr>
              <a:t>Habits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E5C"/>
                </a:solidFill>
              </a:defRPr>
            </a:pPr>
            <a:r>
              <a:t>DAILY HABITS OF CHAMPIONS: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Clear goals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Written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Visualization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Positive self-talk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8888"/>
                </a:solidFill>
              </a:defRPr>
            </a:pPr>
            <a:r>
              <a:t>ASK YOURSELF: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A3E5C"/>
                </a:solidFill>
              </a:defRPr>
            </a:pPr>
            <a:r>
              <a:t>"What does a champion version of me do today?"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Listen Like a </a:t>
            </a:r>
            <a:r>
              <a:rPr sz="3600">
                <a:solidFill>
                  <a:srgbClr val="00A8E1"/>
                </a:solidFill>
              </a:rPr>
              <a:t>Champion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4572000" cy="2286000"/>
          </a:xfrm>
          <a:prstGeom prst="rect">
            <a:avLst/>
          </a:prstGeom>
          <a:solidFill>
            <a:srgbClr val="2A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>
                <a:solidFill>
                  <a:srgbClr val="00A8E1"/>
                </a:solidFill>
              </a:defRPr>
            </a:pPr>
            <a:r>
              <a:t>70/30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70% Listening | 30% Talking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FOCUS 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37744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Asking great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9260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Understanding real needs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5029200"/>
            <a:ext cx="10972800" cy="731520"/>
          </a:xfrm>
          <a:prstGeom prst="rect">
            <a:avLst/>
          </a:prstGeom>
          <a:solidFill>
            <a:srgbClr val="2A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"People don't want pitches. They want to feel understood."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A8E1"/>
                </a:solidFill>
              </a:defRPr>
            </a:pPr>
            <a:r>
              <a:t>INGRID CARLOS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Be a </a:t>
            </a:r>
            <a:r>
              <a:rPr sz="3600">
                <a:solidFill>
                  <a:srgbClr val="00A8E1"/>
                </a:solidFill>
              </a:rPr>
              <a:t>Force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E5C"/>
                </a:solidFill>
              </a:defRPr>
            </a:pPr>
            <a:r>
              <a:t>CHAMPIONS: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Help teammates win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Share strategies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Raise standards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Lead by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CULTURE: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We win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" y="5029200"/>
            <a:ext cx="1097280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3E5C"/>
                </a:solidFill>
              </a:defRPr>
            </a:pPr>
            <a:r>
              <a:t>"A true champion makes the whole team better."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Use Data </a:t>
            </a:r>
            <a:r>
              <a:rPr sz="3600">
                <a:solidFill>
                  <a:srgbClr val="00A8E1"/>
                </a:solidFill>
              </a:rPr>
              <a:t>Like a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E5C"/>
                </a:solidFill>
              </a:defRPr>
            </a:pPr>
            <a:r>
              <a:t>TREAT YOUR BUSINESS LIKE A BUSINESS: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Track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Track follow-ups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Track conversions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9728" cy="109728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Focus on highest ROI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8888"/>
                </a:solidFill>
              </a:defRPr>
            </a:pPr>
            <a:r>
              <a:t>KEY QUESTION: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A3E5C"/>
                </a:solidFill>
              </a:defRPr>
            </a:pPr>
            <a:r>
              <a:t>"What activity makes me the most money?"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Champion </a:t>
            </a:r>
            <a:r>
              <a:rPr sz="3600">
                <a:solidFill>
                  <a:srgbClr val="00A8E1"/>
                </a:solidFill>
              </a:rPr>
              <a:t>vs Average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029200" cy="7315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88888"/>
                </a:solidFill>
              </a:defRPr>
            </a:pPr>
            <a:r>
              <a:t>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Wings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Blames the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Relies on luck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029200" cy="73152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A8E1"/>
                </a:solidFill>
              </a:defRPr>
            </a:pPr>
            <a:r>
              <a:t>CHAMPION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2860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7432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Trains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200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Improves daily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6576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Competes with themselves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GOAL: 1% better every 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A3E5C"/>
                </a:solidFill>
              </a:rPr>
              <a:t>Our </a:t>
            </a:r>
            <a:r>
              <a:rPr sz="3600">
                <a:solidFill>
                  <a:srgbClr val="00A8E1"/>
                </a:solidFill>
              </a:rPr>
              <a:t>Commitment </a:t>
            </a:r>
            <a:r>
              <a:rPr sz="3600">
                <a:solidFill>
                  <a:srgbClr val="1A3E5C"/>
                </a:solidFill>
              </a:rPr>
              <a:t>This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114800" cy="100584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0A8E1"/>
                </a:solidFill>
              </a:rPr>
              <a:t>Champion </a:t>
            </a:r>
            <a:r>
              <a:rPr sz="2000">
                <a:solidFill>
                  <a:srgbClr val="FFFFFF"/>
                </a:solidFill>
              </a:rPr>
              <a:t>Mindset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4114800" cy="100584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0A8E1"/>
                </a:solidFill>
              </a:rPr>
              <a:t>Champion </a:t>
            </a:r>
            <a:r>
              <a:rPr sz="2000">
                <a:solidFill>
                  <a:srgbClr val="FFFFFF"/>
                </a:solidFill>
              </a:rPr>
              <a:t>Habits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200400"/>
            <a:ext cx="4114800" cy="100584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0A8E1"/>
                </a:solidFill>
              </a:rPr>
              <a:t>Champion </a:t>
            </a:r>
            <a:r>
              <a:rPr sz="200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00400"/>
            <a:ext cx="4114800" cy="100584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0A8E1"/>
                </a:solidFill>
              </a:rPr>
              <a:t>Champion </a:t>
            </a:r>
            <a:r>
              <a:rPr sz="200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8E1"/>
                </a:solidFill>
              </a:defRPr>
            </a:pPr>
            <a:r>
              <a:t>Not perfection — progress.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E5C"/>
                </a:solidFill>
              </a:defRPr>
            </a:pPr>
            <a:r>
              <a:t>INGRID CARLOS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3812133" cy="402336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grid Carlos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36288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64592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FFFFFF"/>
                </a:solidFill>
              </a:defRPr>
            </a:pPr>
            <a:r>
              <a:t>"Champions aren't born.</a:t>
            </a:r>
          </a:p>
          <a:p>
            <a:pPr algn="l"/>
            <a:r>
              <a:rPr sz="3200">
                <a:solidFill>
                  <a:srgbClr val="FFFFFF"/>
                </a:solidFill>
              </a:rPr>
              <a:t>They're built — </a:t>
            </a:r>
            <a:r>
              <a:rPr sz="3200">
                <a:solidFill>
                  <a:srgbClr val="00A8E1"/>
                </a:solidFill>
              </a:rPr>
              <a:t>one call, one client, one day at a time.</a:t>
            </a:r>
          </a:p>
          <a:p>
            <a:pPr>
              <a:defRPr sz="3200">
                <a:solidFill>
                  <a:srgbClr val="FFFFFF"/>
                </a:solidFill>
              </a:defRPr>
            </a:pPr>
            <a: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84048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A8E1"/>
                </a:solidFill>
              </a:defRPr>
            </a:pPr>
            <a:r>
              <a:t>— INGRID CARLOS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754880"/>
            <a:ext cx="7132320" cy="914400"/>
          </a:xfrm>
          <a:prstGeom prst="rect">
            <a:avLst/>
          </a:prstGeom>
          <a:solidFill>
            <a:srgbClr val="00A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98348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Show up tomorrow as the champion version of yourself.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